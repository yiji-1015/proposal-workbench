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906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test_requiremen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test_requiremen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457200" y="266700"/>
            <a:ext cx="8991600" cy="892493"/>
            <a:chOff x="457200" y="266700"/>
            <a:chExt cx="8991600" cy="892493"/>
          </a:xfrm>
        </p:grpSpPr>
        <p:sp>
          <p:nvSpPr>
            <p:cNvPr id="2" name="Rectangle 2"/>
            <p:cNvSpPr/>
            <p:nvPr/>
          </p:nvSpPr>
          <p:spPr>
            <a:xfrm>
              <a:off x="457200" y="266700"/>
              <a:ext cx="66675" cy="590550"/>
            </a:xfrm>
            <a:prstGeom prst="rect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9704" y="441960"/>
              <a:ext cx="15739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769E0"/>
                  </a:solidFill>
                  <a:latin typeface="Malgun Gothic"/>
                  <a:ea typeface="Malgun Gothic"/>
                  <a:cs typeface="Malgun Gothic"/>
                </a:rPr>
                <a:t>데이터 요구사항 · DAR-010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4370" y="719138"/>
              <a:ext cx="397135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12213A"/>
                  </a:solidFill>
                  <a:latin typeface="Malgun Gothic"/>
                  <a:ea typeface="Malgun Gothic"/>
                  <a:cs typeface="Malgun Gothic"/>
                </a:rPr>
                <a:t>생성형 AI 자료 학습 및 파인튜닝 운영 방안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7448550" y="409575"/>
              <a:ext cx="2000250" cy="323850"/>
            </a:xfrm>
            <a:prstGeom prst="roundRect">
              <a:avLst>
                <a:gd name="adj" fmla="val 50000"/>
              </a:avLst>
            </a:prstGeom>
            <a:solidFill>
              <a:srgbClr val="EAF2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968402" y="515302"/>
              <a:ext cx="9605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769E0"/>
                  </a:solidFill>
                  <a:latin typeface="Malgun Gothic"/>
                  <a:ea typeface="Malgun Gothic"/>
                  <a:cs typeface="Malgun Gothic"/>
                </a:rPr>
                <a:t>요구사항 분류 · 데이터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57200" y="1257300"/>
            <a:ext cx="8991600" cy="723900"/>
            <a:chOff x="457200" y="1257300"/>
            <a:chExt cx="8991600" cy="723900"/>
          </a:xfrm>
        </p:grpSpPr>
        <p:sp>
          <p:nvSpPr>
            <p:cNvPr id="8" name="Rectangle 8"/>
            <p:cNvSpPr/>
            <p:nvPr/>
          </p:nvSpPr>
          <p:spPr>
            <a:xfrm>
              <a:off x="457200" y="1257300"/>
              <a:ext cx="8991600" cy="723900"/>
            </a:xfrm>
            <a:prstGeom prst="roundRect">
              <a:avLst>
                <a:gd name="adj" fmla="val 15789"/>
              </a:avLst>
            </a:prstGeom>
            <a:solidFill>
              <a:srgbClr val="F3F6F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80466" y="1420178"/>
              <a:ext cx="381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30445F"/>
                  </a:solidFill>
                  <a:latin typeface="Malgun Gothic"/>
                  <a:ea typeface="Malgun Gothic"/>
                  <a:cs typeface="Malgun Gothic"/>
                </a:rPr>
                <a:t>핵심 요구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9323" y="1653064"/>
              <a:ext cx="47688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D2D44"/>
                  </a:solidFill>
                  <a:latin typeface="Malgun Gothic"/>
                  <a:ea typeface="Malgun Gothic"/>
                  <a:cs typeface="Malgun Gothic"/>
                </a:rPr>
                <a:t>외부 최신 데이터 학습 → 사내 데이터 추가 학습 → 파인튜닝·미세조정 → 모델 검증까지의 절차를 제시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50723" y="2291239"/>
            <a:ext cx="8312277" cy="1737550"/>
            <a:chOff x="450723" y="2291239"/>
            <a:chExt cx="8312277" cy="1737550"/>
          </a:xfrm>
        </p:grpSpPr>
        <p:sp>
          <p:nvSpPr>
            <p:cNvPr id="12" name="TextBox 12"/>
            <p:cNvSpPr txBox="1"/>
            <p:nvPr/>
          </p:nvSpPr>
          <p:spPr>
            <a:xfrm>
              <a:off x="450723" y="2291239"/>
              <a:ext cx="1216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2213A"/>
                  </a:solidFill>
                  <a:latin typeface="Malgun Gothic"/>
                  <a:ea typeface="Malgun Gothic"/>
                  <a:cs typeface="Malgun Gothic"/>
                </a:rPr>
                <a:t>학습·미세조정 수행 흐름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1143000" y="3238500"/>
              <a:ext cx="7620000" cy="9525"/>
            </a:xfrm>
            <a:custGeom>
              <a:avLst/>
              <a:gdLst/>
              <a:ahLst/>
              <a:cxnLst/>
              <a:rect l="l" t="t" r="r" b="b"/>
              <a:pathLst>
                <a:path w="7620000" h="9525">
                  <a:moveTo>
                    <a:pt x="0" y="0"/>
                  </a:moveTo>
                  <a:lnTo>
                    <a:pt x="7620000" y="0"/>
                  </a:lnTo>
                </a:path>
              </a:pathLst>
            </a:custGeom>
            <a:noFill/>
            <a:ln w="38100">
              <a:solidFill>
                <a:srgbClr val="B6C4D8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8572500" y="3124200"/>
              <a:ext cx="190500" cy="228600"/>
            </a:xfrm>
            <a:custGeom>
              <a:avLst/>
              <a:gdLst/>
              <a:ahLst/>
              <a:cxnLst/>
              <a:rect l="l" t="t" r="r" b="b"/>
              <a:pathLst>
                <a:path w="190500" h="228600">
                  <a:moveTo>
                    <a:pt x="190500" y="114300"/>
                  </a:move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1769E0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942975" y="2800350"/>
              <a:ext cx="876300" cy="1228439"/>
              <a:chOff x="942975" y="2800350"/>
              <a:chExt cx="876300" cy="1228439"/>
            </a:xfrm>
          </p:grpSpPr>
          <p:sp>
            <p:nvSpPr>
              <p:cNvPr id="15" name="Ellipse 15"/>
              <p:cNvSpPr/>
              <p:nvPr/>
            </p:nvSpPr>
            <p:spPr>
              <a:xfrm>
                <a:off x="942975" y="2800350"/>
                <a:ext cx="876300" cy="876300"/>
              </a:xfrm>
              <a:prstGeom prst="ellipse">
                <a:avLst/>
              </a:prstGeom>
              <a:solidFill>
                <a:srgbClr val="1769E0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328383" y="30518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1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133982" y="3288506"/>
                <a:ext cx="49428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데이터 수집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82633" y="3838099"/>
                <a:ext cx="59698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rgbClr val="30445F"/>
                    </a:solidFill>
                    <a:latin typeface="Malgun Gothic"/>
                    <a:ea typeface="Malgun Gothic"/>
                    <a:cs typeface="Malgun Gothic"/>
                  </a:rPr>
                  <a:t>외부 최신 데이터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2514600" y="2800350"/>
              <a:ext cx="876300" cy="1228439"/>
              <a:chOff x="2514600" y="2800350"/>
              <a:chExt cx="876300" cy="1228439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2514600" y="2800350"/>
                <a:ext cx="876300" cy="876300"/>
              </a:xfrm>
              <a:prstGeom prst="ellipse">
                <a:avLst/>
              </a:prstGeom>
              <a:solidFill>
                <a:srgbClr val="2B83F6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2900008" y="30518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2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2816427" y="3288506"/>
                <a:ext cx="27264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전처리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2621276" y="3838099"/>
                <a:ext cx="66294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rgbClr val="30445F"/>
                    </a:solidFill>
                    <a:latin typeface="Malgun Gothic"/>
                    <a:ea typeface="Malgun Gothic"/>
                    <a:cs typeface="Malgun Gothic"/>
                  </a:rPr>
                  <a:t>정제·라벨링·분할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4086225" y="2800350"/>
              <a:ext cx="876300" cy="1228439"/>
              <a:chOff x="4086225" y="2800350"/>
              <a:chExt cx="876300" cy="1228439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4086225" y="2800350"/>
                <a:ext cx="876300" cy="876300"/>
              </a:xfrm>
              <a:prstGeom prst="ellipse">
                <a:avLst/>
              </a:prstGeom>
              <a:solidFill>
                <a:srgbClr val="3A96F8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4471633" y="30518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3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320769" y="3288506"/>
                <a:ext cx="40721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모델 선택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153323" y="3838099"/>
                <a:ext cx="74210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rgbClr val="30445F"/>
                    </a:solidFill>
                    <a:latin typeface="Malgun Gothic"/>
                    <a:ea typeface="Malgun Gothic"/>
                    <a:cs typeface="Malgun Gothic"/>
                  </a:rPr>
                  <a:t>대상 모델·기준 설정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5609892" y="2800350"/>
              <a:ext cx="972215" cy="1228439"/>
              <a:chOff x="5609892" y="2800350"/>
              <a:chExt cx="972215" cy="1228439"/>
            </a:xfrm>
          </p:grpSpPr>
          <p:sp>
            <p:nvSpPr>
              <p:cNvPr id="30" name="Ellipse 30"/>
              <p:cNvSpPr/>
              <p:nvPr/>
            </p:nvSpPr>
            <p:spPr>
              <a:xfrm>
                <a:off x="5657850" y="2800350"/>
                <a:ext cx="876300" cy="876300"/>
              </a:xfrm>
              <a:prstGeom prst="ellipse">
                <a:avLst/>
              </a:prstGeom>
              <a:solidFill>
                <a:srgbClr val="F07A2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043258" y="30518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4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916141" y="3288506"/>
                <a:ext cx="35971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파인튜닝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609892" y="3838099"/>
                <a:ext cx="97221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rgbClr val="30445F"/>
                    </a:solidFill>
                    <a:latin typeface="Malgun Gothic"/>
                    <a:ea typeface="Malgun Gothic"/>
                    <a:cs typeface="Malgun Gothic"/>
                  </a:rPr>
                  <a:t>LoRA · PEFT 적용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7229475" y="2800350"/>
              <a:ext cx="876300" cy="1228439"/>
              <a:chOff x="7229475" y="2800350"/>
              <a:chExt cx="876300" cy="1228439"/>
            </a:xfrm>
          </p:grpSpPr>
          <p:sp>
            <p:nvSpPr>
              <p:cNvPr id="35" name="Ellipse 35"/>
              <p:cNvSpPr/>
              <p:nvPr/>
            </p:nvSpPr>
            <p:spPr>
              <a:xfrm>
                <a:off x="7229475" y="2800350"/>
                <a:ext cx="876300" cy="876300"/>
              </a:xfrm>
              <a:prstGeom prst="ellipse">
                <a:avLst/>
              </a:prstGeom>
              <a:solidFill>
                <a:srgbClr val="0D9B78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614883" y="30518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5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444229" y="3288506"/>
                <a:ext cx="44679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</a:rPr>
                  <a:t>검증·배포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7388922" y="3838099"/>
                <a:ext cx="55740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rgbClr val="30445F"/>
                    </a:solidFill>
                    <a:latin typeface="Malgun Gothic"/>
                    <a:ea typeface="Malgun Gothic"/>
                    <a:cs typeface="Malgun Gothic"/>
                  </a:rPr>
                  <a:t>성능·품질 확인</a:t>
                </a:r>
              </a:p>
            </p:txBody>
          </p:sp>
        </p:grpSp>
      </p:grpSp>
      <p:grpSp>
        <p:nvGrpSpPr>
          <p:cNvPr id="47" name="Group 47"/>
          <p:cNvGrpSpPr/>
          <p:nvPr/>
        </p:nvGrpSpPr>
        <p:grpSpPr>
          <a:xfrm>
            <a:off x="457200" y="4857750"/>
            <a:ext cx="5334000" cy="1447800"/>
            <a:chOff x="457200" y="4857750"/>
            <a:chExt cx="5334000" cy="1447800"/>
          </a:xfrm>
        </p:grpSpPr>
        <p:sp>
          <p:nvSpPr>
            <p:cNvPr id="41" name="Rectangle 41"/>
            <p:cNvSpPr/>
            <p:nvPr/>
          </p:nvSpPr>
          <p:spPr>
            <a:xfrm>
              <a:off x="457200" y="4857750"/>
              <a:ext cx="5334000" cy="1447800"/>
            </a:xfrm>
            <a:prstGeom prst="roundRect">
              <a:avLst>
                <a:gd name="adj" fmla="val 9211"/>
              </a:avLst>
            </a:prstGeom>
            <a:solidFill>
              <a:srgbClr val="EEF5FF"/>
            </a:solidFill>
            <a:ln w="19050">
              <a:solidFill>
                <a:srgbClr val="B9D5FF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457200" y="4857750"/>
              <a:ext cx="5334000" cy="342900"/>
            </a:xfrm>
            <a:prstGeom prst="roundRect">
              <a:avLst>
                <a:gd name="adj" fmla="val 38889"/>
              </a:avLst>
            </a:prstGeom>
            <a:solidFill>
              <a:srgbClr val="123B7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9704" y="4966335"/>
              <a:ext cx="7161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파인튜닝 선택지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80085" y="5345906"/>
              <a:ext cx="9335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769E0"/>
                  </a:solidFill>
                  <a:latin typeface="Malgun Gothic"/>
                  <a:ea typeface="Malgun Gothic"/>
                  <a:cs typeface="Malgun Gothic"/>
                </a:rPr>
                <a:t>LoRA / PEFT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0466" y="5601652"/>
              <a:ext cx="17775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30445F"/>
                  </a:solidFill>
                  <a:latin typeface="Malgun Gothic"/>
                  <a:ea typeface="Malgun Gothic"/>
                  <a:cs typeface="Malgun Gothic"/>
                </a:rPr>
                <a:t>기존 가중치를 고정하고 일부 파라미터만 학습해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80466" y="5830252"/>
              <a:ext cx="18977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30445F"/>
                  </a:solidFill>
                  <a:latin typeface="Malgun Gothic"/>
                  <a:ea typeface="Malgun Gothic"/>
                  <a:cs typeface="Malgun Gothic"/>
                </a:rPr>
                <a:t>학습 비용·시간을 줄이면서 업무 특화 성능을 확보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038850" y="4857750"/>
            <a:ext cx="3409950" cy="1447800"/>
            <a:chOff x="6038850" y="4857750"/>
            <a:chExt cx="3409950" cy="1447800"/>
          </a:xfrm>
        </p:grpSpPr>
        <p:sp>
          <p:nvSpPr>
            <p:cNvPr id="48" name="Rectangle 48"/>
            <p:cNvSpPr/>
            <p:nvPr/>
          </p:nvSpPr>
          <p:spPr>
            <a:xfrm>
              <a:off x="6038850" y="4857750"/>
              <a:ext cx="3409950" cy="1447800"/>
            </a:xfrm>
            <a:prstGeom prst="roundRect">
              <a:avLst>
                <a:gd name="adj" fmla="val 9211"/>
              </a:avLst>
            </a:prstGeom>
            <a:solidFill>
              <a:srgbClr val="FFF6E8"/>
            </a:solidFill>
            <a:ln w="19050">
              <a:solidFill>
                <a:srgbClr val="F2C47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280404" y="5061585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9A5A00"/>
                  </a:solidFill>
                  <a:latin typeface="Malgun Gothic"/>
                  <a:ea typeface="Malgun Gothic"/>
                  <a:cs typeface="Malgun Gothic"/>
                </a:rPr>
                <a:t>산출정보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281166" y="5411152"/>
              <a:ext cx="8307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rgbClr val="553B1F"/>
                </a:buClr>
                <a:buSzTx/>
                <a:buFontTx/>
                <a:buChar char="•"/>
              </a:pPr>
              <a:r>
                <a:rPr lang="en-US" sz="1050" dirty="0">
                  <a:solidFill>
                    <a:srgbClr val="553B1F"/>
                  </a:solidFill>
                  <a:latin typeface="Malgun Gothic"/>
                  <a:ea typeface="Malgun Gothic"/>
                  <a:cs typeface="Malgun Gothic"/>
                </a:rPr>
                <a:t>데이터 모형 설계서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281166" y="5658802"/>
              <a:ext cx="9438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rgbClr val="553B1F"/>
                </a:buClr>
                <a:buSzTx/>
                <a:buFontTx/>
                <a:buChar char="•"/>
              </a:pPr>
              <a:r>
                <a:rPr lang="en-US" sz="1050" dirty="0">
                  <a:solidFill>
                    <a:srgbClr val="553B1F"/>
                  </a:solidFill>
                  <a:latin typeface="Malgun Gothic"/>
                  <a:ea typeface="Malgun Gothic"/>
                  <a:cs typeface="Malgun Gothic"/>
                </a:rPr>
                <a:t>학습·미세조정 절차서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81166" y="5906452"/>
              <a:ext cx="11912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rgbClr val="553B1F"/>
                </a:buClr>
                <a:buSzTx/>
                <a:buFontTx/>
                <a:buChar char="•"/>
              </a:pPr>
              <a:r>
                <a:rPr lang="en-US" sz="1050" dirty="0">
                  <a:solidFill>
                    <a:srgbClr val="553B1F"/>
                  </a:solidFill>
                  <a:latin typeface="Malgun Gothic"/>
                  <a:ea typeface="Malgun Gothic"/>
                  <a:cs typeface="Malgun Gothic"/>
                </a:rPr>
                <a:t>모델 검증 결과 및 운영 기준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test_requirement">
  <a:themeElements>
    <a:clrScheme name="test_requiremen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st_requirement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st_requiremen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2026-08-03T08:44:47Z</dcterms:created>
  <dcterms:modified xsi:type="dcterms:W3CDTF">2026-08-03T08:44:47Z</dcterms:modified>
  <cp:category/>
  <cp:contentStatus/>
</cp:coreProperties>
</file>